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45 segundos. Abre diciendo que el proyecto no reemplaza Bancs. SmartBancs funciona como una capa transaccional moderna para recibir transferencias, controlar errores comunes y proteger al core. Señala que la demo está levantada con Docker Compose y que el frontend muestra transferencias, outbox, ledger, recomendaciones de IA y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65 segundos. Recorre de izquierda a derecha. Los canales entran por la consola o API. Transaction Service valida la transferencia, aplica idempotencia y locks, y guarda ledger/outbox. PostgreSQL mantiene la proyección local y los eventos. Bancs Adapter aísla el contrato del core. IA, ETL y Prometheus quedan como capacidades operativas o asíncronas, fuera del camino crítico.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70 segundos. Explica cuatro ideas. Idempotencia evita duplicados. Locks por cuenta manejan concurrencia. Outbox evita perder eventos y permite procesar Bancs e IA de forma controlada. IA corre después de la liquidación, por eso no frena la transferencia. Cierra diciendo que el diseño protege Bancs y permite observabilidad desde Prometheus.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ángulos 1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Rectángulos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Rectángulos 2"/>
          <p:cNvSpPr>
            <a:spLocks noGrp="1"/>
          </p:cNvSpPr>
          <p:nvPr/>
        </p:nvSpPr>
        <p:spPr>
          <a:xfrm>
            <a:off x="609600" y="5905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SmartBancs MVP</a:t>
            </a:r>
            <a:endParaRPr sz="1650" b="1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ángulos 3"/>
          <p:cNvSpPr>
            <a:spLocks noGrp="1"/>
          </p:cNvSpPr>
          <p:nvPr/>
        </p:nvSpPr>
        <p:spPr>
          <a:xfrm>
            <a:off x="609600" y="12001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146"/>
          </a:bodyPr>
          <a:lstStyle/>
          <a:p>
            <a:pPr>
              <a:defRPr sz="31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Capa transaccional para integrar Bancs sin sobrecargar el core</a:t>
            </a:r>
            <a:endParaRPr sz="315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ángulos 4"/>
          <p:cNvSpPr>
            <a:spLocks noGrp="1"/>
          </p:cNvSpPr>
          <p:nvPr/>
        </p:nvSpPr>
        <p:spPr>
          <a:xfrm>
            <a:off x="609600" y="2762250"/>
            <a:ext cx="1428750" cy="2857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6" name="Rectángulos 5"/>
          <p:cNvSpPr>
            <a:spLocks noGrp="1"/>
          </p:cNvSpPr>
          <p:nvPr/>
        </p:nvSpPr>
        <p:spPr>
          <a:xfrm>
            <a:off x="609600" y="31432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Mensaje principal</a:t>
            </a:r>
            <a:endParaRPr sz="1350" b="1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ángulos 6"/>
          <p:cNvSpPr>
            <a:spLocks noGrp="1"/>
          </p:cNvSpPr>
          <p:nvPr/>
        </p:nvSpPr>
        <p:spPr>
          <a:xfrm>
            <a:off x="609600" y="3486150"/>
            <a:ext cx="4810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014"/>
          </a:bodyPr>
          <a:lstStyle/>
          <a:p>
            <a:pPr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SmartBancs recibe transferencias, controla duplicados y concurrencia, confirma contra Bancs y procesa capacidades no críticas por eventos.</a:t>
            </a:r>
            <a:endParaRPr sz="18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ángulos 7"/>
          <p:cNvSpPr>
            <a:spLocks noGrp="1"/>
          </p:cNvSpPr>
          <p:nvPr/>
        </p:nvSpPr>
        <p:spPr>
          <a:xfrm>
            <a:off x="609600" y="521970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1">
                <a:solidFill>
                  <a:srgbClr val="1F6AA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6AA5"/>
                </a:solidFill>
                <a:latin typeface="Aptos"/>
                <a:ea typeface="Aptos"/>
                <a:cs typeface="Aptos"/>
              </a:rPr>
              <a:t>Demo local: Docker Compose</a:t>
            </a:r>
            <a:endParaRPr sz="1425" b="1">
              <a:solidFill>
                <a:srgbClr val="1F6AA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ángulos 8"/>
          <p:cNvSpPr>
            <a:spLocks noGrp="1"/>
          </p:cNvSpPr>
          <p:nvPr/>
        </p:nvSpPr>
        <p:spPr>
          <a:xfrm>
            <a:off x="609600" y="5562600"/>
            <a:ext cx="4572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518"/>
          </a:bodyPr>
          <a:lstStyle/>
          <a:p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Frontend, API, adapter, IA, PostgreSQL y Prometheus corriendo juntos.</a:t>
            </a:r>
            <a:endParaRPr sz="13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1"/>
          <a:srcRect l="15445" r="15445"/>
          <a:stretch>
            <a:fillRect/>
          </a:stretch>
        </p:blipFill>
        <p:spPr>
          <a:xfrm>
            <a:off x="6000750" y="666750"/>
            <a:ext cx="5476875" cy="4953000"/>
          </a:xfrm>
          <a:prstGeom prst="roundRect">
            <a:avLst>
              <a:gd name="adj" fmla="val 2692"/>
            </a:avLst>
          </a:prstGeom>
        </p:spPr>
      </p:pic>
      <p:sp>
        <p:nvSpPr>
          <p:cNvPr id="11" name="Rectángulos 10"/>
          <p:cNvSpPr>
            <a:spLocks noGrp="1"/>
          </p:cNvSpPr>
          <p:nvPr/>
        </p:nvSpPr>
        <p:spPr>
          <a:xfrm>
            <a:off x="590550" y="6362700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SmartBancs MVP</a:t>
            </a:r>
            <a:endParaRPr sz="10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ángulos 11"/>
          <p:cNvSpPr>
            <a:spLocks noGrp="1"/>
          </p:cNvSpPr>
          <p:nvPr/>
        </p:nvSpPr>
        <p:spPr>
          <a:xfrm>
            <a:off x="11239500" y="63627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  <a:endParaRPr sz="10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ángulos 6"/>
          <p:cNvSpPr>
            <a:spLocks noGrp="1"/>
          </p:cNvSpPr>
          <p:nvPr/>
        </p:nvSpPr>
        <p:spPr>
          <a:xfrm>
            <a:off x="609600" y="400050"/>
            <a:ext cx="5905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Arquitectura de SmartBancs</a:t>
            </a:r>
            <a:endParaRPr sz="27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09600" y="876300"/>
            <a:ext cx="7239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Servicios separados, una base transaccional y una frontera clara hacia Bancs.</a:t>
            </a:r>
            <a:endParaRPr sz="150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ángulos 3"/>
          <p:cNvSpPr>
            <a:spLocks noGrp="1"/>
          </p:cNvSpPr>
          <p:nvPr/>
        </p:nvSpPr>
        <p:spPr>
          <a:xfrm>
            <a:off x="609600" y="605790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1">
                <a:solidFill>
                  <a:srgbClr val="1F6AA5"/>
                </a:solidFill>
                <a:latin typeface="Aptos"/>
                <a:ea typeface="Aptos"/>
                <a:cs typeface="Aptos"/>
              </a:defRPr>
            </a:pPr>
            <a:endParaRPr sz="1350" b="1">
              <a:solidFill>
                <a:srgbClr val="1F6AA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ángulos 5"/>
          <p:cNvSpPr>
            <a:spLocks noGrp="1"/>
          </p:cNvSpPr>
          <p:nvPr/>
        </p:nvSpPr>
        <p:spPr>
          <a:xfrm>
            <a:off x="11239500" y="63627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  <a:endParaRPr sz="10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-27305"/>
            <a:ext cx="117983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ángulos 19"/>
          <p:cNvSpPr>
            <a:spLocks noGrp="1"/>
          </p:cNvSpPr>
          <p:nvPr/>
        </p:nvSpPr>
        <p:spPr>
          <a:xfrm>
            <a:off x="609600" y="457200"/>
            <a:ext cx="5715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Flujo que conviene explicar</a:t>
            </a:r>
            <a:endParaRPr sz="27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09600" y="914400"/>
            <a:ext cx="6477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 3 minutos, enfócate en las decisiones que protegen la transferencia.</a:t>
            </a:r>
            <a:endParaRPr sz="150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ángulos 2"/>
          <p:cNvSpPr>
            <a:spLocks noGrp="1"/>
          </p:cNvSpPr>
          <p:nvPr/>
        </p:nvSpPr>
        <p:spPr>
          <a:xfrm>
            <a:off x="666750" y="163830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>
              <a:defRPr sz="1650" b="1">
                <a:solidFill>
                  <a:srgbClr val="1F6AA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AA5"/>
                </a:solidFill>
                <a:latin typeface="Aptos"/>
                <a:ea typeface="Aptos"/>
                <a:cs typeface="Aptos"/>
              </a:rPr>
              <a:t>01</a:t>
            </a:r>
            <a:endParaRPr sz="1650" b="1">
              <a:solidFill>
                <a:srgbClr val="1F6AA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ángulos 3"/>
          <p:cNvSpPr>
            <a:spLocks noGrp="1"/>
          </p:cNvSpPr>
          <p:nvPr/>
        </p:nvSpPr>
        <p:spPr>
          <a:xfrm>
            <a:off x="1200150" y="16192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Idempotencia</a:t>
            </a:r>
            <a:endParaRPr sz="1725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ángulos 4"/>
          <p:cNvSpPr>
            <a:spLocks noGrp="1"/>
          </p:cNvSpPr>
          <p:nvPr/>
        </p:nvSpPr>
        <p:spPr>
          <a:xfrm>
            <a:off x="1200150" y="19050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misma solicitud no mueve dinero dos veces.</a:t>
            </a:r>
            <a:endParaRPr sz="13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ángulos 5"/>
          <p:cNvSpPr>
            <a:spLocks noGrp="1"/>
          </p:cNvSpPr>
          <p:nvPr/>
        </p:nvSpPr>
        <p:spPr>
          <a:xfrm>
            <a:off x="666750" y="254317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>
              <a:defRPr sz="1650" b="1">
                <a:solidFill>
                  <a:srgbClr val="1F6AA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AA5"/>
                </a:solidFill>
                <a:latin typeface="Aptos"/>
                <a:ea typeface="Aptos"/>
                <a:cs typeface="Aptos"/>
              </a:rPr>
              <a:t>02</a:t>
            </a:r>
            <a:endParaRPr sz="1650" b="1">
              <a:solidFill>
                <a:srgbClr val="1F6AA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ángulos 6"/>
          <p:cNvSpPr>
            <a:spLocks noGrp="1"/>
          </p:cNvSpPr>
          <p:nvPr/>
        </p:nvSpPr>
        <p:spPr>
          <a:xfrm>
            <a:off x="1200150" y="252412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Locks por cuenta</a:t>
            </a:r>
            <a:endParaRPr sz="1725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ángulos 7"/>
          <p:cNvSpPr>
            <a:spLocks noGrp="1"/>
          </p:cNvSpPr>
          <p:nvPr/>
        </p:nvSpPr>
        <p:spPr>
          <a:xfrm>
            <a:off x="1200150" y="2809875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Dos transferencias no usan el mismo saldo viejo.</a:t>
            </a:r>
            <a:endParaRPr sz="13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ángulos 8"/>
          <p:cNvSpPr>
            <a:spLocks noGrp="1"/>
          </p:cNvSpPr>
          <p:nvPr/>
        </p:nvSpPr>
        <p:spPr>
          <a:xfrm>
            <a:off x="666750" y="344805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>
              <a:defRPr sz="1650" b="1">
                <a:solidFill>
                  <a:srgbClr val="1F6AA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AA5"/>
                </a:solidFill>
                <a:latin typeface="Aptos"/>
                <a:ea typeface="Aptos"/>
                <a:cs typeface="Aptos"/>
              </a:rPr>
              <a:t>03</a:t>
            </a:r>
            <a:endParaRPr sz="1650" b="1">
              <a:solidFill>
                <a:srgbClr val="1F6AA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ángulos 9"/>
          <p:cNvSpPr>
            <a:spLocks noGrp="1"/>
          </p:cNvSpPr>
          <p:nvPr/>
        </p:nvSpPr>
        <p:spPr>
          <a:xfrm>
            <a:off x="1200150" y="34290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Outbox</a:t>
            </a:r>
            <a:endParaRPr sz="1725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ángulos 10"/>
          <p:cNvSpPr>
            <a:spLocks noGrp="1"/>
          </p:cNvSpPr>
          <p:nvPr/>
        </p:nvSpPr>
        <p:spPr>
          <a:xfrm>
            <a:off x="1200150" y="37147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86"/>
          </a:bodyPr>
          <a:lstStyle/>
          <a:p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evento queda guardado aunque un servicio se reinicie.</a:t>
            </a:r>
            <a:endParaRPr sz="13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ángulos 11"/>
          <p:cNvSpPr>
            <a:spLocks noGrp="1"/>
          </p:cNvSpPr>
          <p:nvPr/>
        </p:nvSpPr>
        <p:spPr>
          <a:xfrm>
            <a:off x="666750" y="43529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>
              <a:defRPr sz="1650" b="1">
                <a:solidFill>
                  <a:srgbClr val="D4A7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A72C"/>
                </a:solidFill>
                <a:latin typeface="Aptos"/>
                <a:ea typeface="Aptos"/>
                <a:cs typeface="Aptos"/>
              </a:rPr>
              <a:t>04</a:t>
            </a:r>
            <a:endParaRPr sz="1650" b="1">
              <a:solidFill>
                <a:srgbClr val="D4A7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ángulos 12"/>
          <p:cNvSpPr>
            <a:spLocks noGrp="1"/>
          </p:cNvSpPr>
          <p:nvPr/>
        </p:nvSpPr>
        <p:spPr>
          <a:xfrm>
            <a:off x="1200150" y="433387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IA posterior</a:t>
            </a:r>
            <a:endParaRPr sz="1725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ángulos 13"/>
          <p:cNvSpPr>
            <a:spLocks noGrp="1"/>
          </p:cNvSpPr>
          <p:nvPr/>
        </p:nvSpPr>
        <p:spPr>
          <a:xfrm>
            <a:off x="1200150" y="4619625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Las recomendaciones no bloquean la liquidación.</a:t>
            </a:r>
            <a:endParaRPr sz="13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4" name="Imagen 33"/>
          <p:cNvPicPr>
            <a:picLocks noChangeAspect="1"/>
          </p:cNvPicPr>
          <p:nvPr/>
        </p:nvPicPr>
        <p:blipFill>
          <a:blip r:embed="rId1"/>
          <a:srcRect l="3734" r="3734"/>
          <a:stretch>
            <a:fillRect/>
          </a:stretch>
        </p:blipFill>
        <p:spPr>
          <a:xfrm>
            <a:off x="6096000" y="1504950"/>
            <a:ext cx="5429250" cy="3667125"/>
          </a:xfrm>
          <a:prstGeom prst="roundRect">
            <a:avLst>
              <a:gd name="adj" fmla="val 3636"/>
            </a:avLst>
          </a:prstGeom>
        </p:spPr>
      </p:pic>
      <p:sp>
        <p:nvSpPr>
          <p:cNvPr id="16" name="Rectángulos 15"/>
          <p:cNvSpPr>
            <a:spLocks noGrp="1"/>
          </p:cNvSpPr>
          <p:nvPr/>
        </p:nvSpPr>
        <p:spPr>
          <a:xfrm>
            <a:off x="6115050" y="544830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926"/>
          </a:bodyPr>
          <a:lstStyle/>
          <a:p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Cierre sugerido</a:t>
            </a:r>
            <a:endParaRPr sz="1350" b="1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ángulos 16"/>
          <p:cNvSpPr>
            <a:spLocks noGrp="1"/>
          </p:cNvSpPr>
          <p:nvPr/>
        </p:nvSpPr>
        <p:spPr>
          <a:xfrm>
            <a:off x="6115050" y="57340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303"/>
          </a:bodyPr>
          <a:lstStyle/>
          <a:p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SmartBancs protege el core, mantiene trazabilidad y deja espacio para crecer.</a:t>
            </a:r>
            <a:endParaRPr sz="165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ángulos 17"/>
          <p:cNvSpPr>
            <a:spLocks noGrp="1"/>
          </p:cNvSpPr>
          <p:nvPr/>
        </p:nvSpPr>
        <p:spPr>
          <a:xfrm>
            <a:off x="590550" y="6362700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SmartBancs MVP</a:t>
            </a:r>
            <a:endParaRPr sz="10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ángulos 18"/>
          <p:cNvSpPr>
            <a:spLocks noGrp="1"/>
          </p:cNvSpPr>
          <p:nvPr/>
        </p:nvSpPr>
        <p:spPr>
          <a:xfrm>
            <a:off x="11239500" y="63627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  <a:endParaRPr sz="10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WPS Presentation</Application>
  <PresentationFormat>Converted Presentation</PresentationFormat>
  <Paragraphs>58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asd</cp:lastModifiedBy>
  <cp:revision>1</cp:revision>
  <dcterms:created xsi:type="dcterms:W3CDTF">2026-09-24T18:06:45Z</dcterms:created>
  <dcterms:modified xsi:type="dcterms:W3CDTF">2026-09-24T18:06:45Z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3082-12.1.0.28485</vt:lpwstr>
  </property>
  <property fmtid="{D5CDD505-2E9C-101B-9397-08002B2CF9AE}" pid="3" name="ICV">
    <vt:lpwstr>B1F91B3E35884F01A5330EFA6B02472D_12</vt:lpwstr>
  </property>
</Properties>
</file>